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solidFill>
            <a:srgbClr val="1F2C34"/>
          </a:solidFill>
          <a:ln w="190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74720" y="1463040"/>
            <a:ext cx="2194560" cy="219456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39" y="18288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MQTT WhatsApp Clone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A884"/>
                </a:solidFill>
                <a:latin typeface="Segoe UI"/>
              </a:rPr>
              <a:t>Aplikasi Chat Real-Time | MQTT + WebRTC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663440"/>
            <a:ext cx="4572000" cy="36576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9D0"/>
                </a:solidFill>
                <a:latin typeface="Segoe UI"/>
              </a:rPr>
              <a:t>React + Vite  •  MQTT.js  •  WebRTC  •  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C9D0"/>
                </a:solidFill>
                <a:latin typeface="Segoe UI"/>
              </a:rPr>
              <a:t>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📋  Overview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84"/>
                </a:solidFill>
                <a:latin typeface="Segoe UI"/>
              </a:rPr>
              <a:t>Apa itu MQTT WhatsApp Clone?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C0C9D0"/>
                </a:solidFill>
                <a:latin typeface="Segoe UI"/>
              </a:rPr>
              <a:t>Aplikasi web chat real-time premium berbasis dark-theme glassmorphism, terinspirasi dari WhatsApp Web. Dibangun menggunakan protokol MQTT lewat WebSocket untuk pengiriman pesan instan, dan WebRTC untuk panggilan suara &amp; video langsung antar browser (Peer-to-Peer) tanpa server relay.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697480"/>
            <a:ext cx="1920240" cy="1645920"/>
          </a:xfrm>
          <a:prstGeom prst="rect">
            <a:avLst/>
          </a:prstGeom>
          <a:solidFill>
            <a:srgbClr val="1F2C3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00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84"/>
                </a:solidFill>
                <a:latin typeface="Segoe UI"/>
              </a:rPr>
              <a:t>&lt; 1 detik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9D0"/>
                </a:solidFill>
                <a:latin typeface="Segoe UI"/>
              </a:rPr>
              <a:t>Latensi Pesan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2697480"/>
            <a:ext cx="1920240" cy="1645920"/>
          </a:xfrm>
          <a:prstGeom prst="rect">
            <a:avLst/>
          </a:prstGeom>
          <a:solidFill>
            <a:srgbClr val="1F2C3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84"/>
                </a:solidFill>
                <a:latin typeface="Segoe UI"/>
              </a:rPr>
              <a:t>10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9D0"/>
                </a:solidFill>
                <a:latin typeface="Segoe UI"/>
              </a:rPr>
              <a:t>Maks Ukuran Foto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2697480"/>
            <a:ext cx="1920240" cy="1645920"/>
          </a:xfrm>
          <a:prstGeom prst="rect">
            <a:avLst/>
          </a:prstGeom>
          <a:solidFill>
            <a:srgbClr val="1F2C3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00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84"/>
                </a:solidFill>
                <a:latin typeface="Segoe UI"/>
              </a:rPr>
              <a:t>250 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9D0"/>
                </a:solidFill>
                <a:latin typeface="Segoe UI"/>
              </a:rPr>
              <a:t>Maks Voice Note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697480"/>
            <a:ext cx="1920240" cy="1645920"/>
          </a:xfrm>
          <a:prstGeom prst="rect">
            <a:avLst/>
          </a:prstGeom>
          <a:solidFill>
            <a:srgbClr val="1F2C3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743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004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884"/>
                </a:solidFill>
                <a:latin typeface="Segoe UI"/>
              </a:rPr>
              <a:t>P2P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03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9D0"/>
                </a:solidFill>
                <a:latin typeface="Segoe UI"/>
              </a:rPr>
              <a:t>Video 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9144000" cy="731520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7365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🛠️  Stack:   React 18  •  Vite  •  MQTT.js 5  •  WebRTC  •  Tailwind CSS  •  Canvas API  •  MediaRecorder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✨  Fitur-Fitur Unggulan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84"/>
                </a:solidFill>
                <a:latin typeface="Segoe UI"/>
              </a:rPr>
              <a:t>6 Fitur Utama yang Membuat Aplikasi Ini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4114800" cy="1234440"/>
          </a:xfrm>
          <a:prstGeom prst="rect">
            <a:avLst/>
          </a:prstGeom>
          <a:solidFill>
            <a:srgbClr val="1F2C34"/>
          </a:solidFill>
          <a:ln w="1524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64008" cy="123444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84"/>
                </a:solidFill>
                <a:latin typeface="Segoe UI"/>
              </a:rPr>
              <a:t>📡  Pesan Real-Time (MQTT)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1848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0C9D0"/>
                </a:solidFill>
                <a:latin typeface="Segoe UI"/>
              </a:rPr>
              <a:t>Kirim &amp; terima pesan dalam hitungan milidetik menggunakan protokol MQTT lewat WSS (WebSocket Secure).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34440"/>
            <a:ext cx="4114800" cy="1234440"/>
          </a:xfrm>
          <a:prstGeom prst="rect">
            <a:avLst/>
          </a:prstGeom>
          <a:solidFill>
            <a:srgbClr val="1F2C34"/>
          </a:solidFill>
          <a:ln w="1524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64008" cy="1234440"/>
          </a:xfrm>
          <a:prstGeom prst="rect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280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3BDEB"/>
                </a:solidFill>
                <a:latin typeface="Segoe UI"/>
              </a:rPr>
              <a:t>📹  Voice &amp; Video Call (WebRTC)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61848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0C9D0"/>
                </a:solidFill>
                <a:latin typeface="Segoe UI"/>
              </a:rPr>
              <a:t>Panggilan suara dan video langsung P2P antar browser. MQTT dipakai sebagai signaling channel untuk SDP &amp; 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606040"/>
            <a:ext cx="4114800" cy="1234440"/>
          </a:xfrm>
          <a:prstGeom prst="rect">
            <a:avLst/>
          </a:prstGeom>
          <a:solidFill>
            <a:srgbClr val="1F2C34"/>
          </a:solidFill>
          <a:ln w="15240">
            <a:solidFill>
              <a:srgbClr val="FFD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606040"/>
            <a:ext cx="64008" cy="1234440"/>
          </a:xfrm>
          <a:prstGeom prst="rect">
            <a:avLst/>
          </a:prstGeom>
          <a:solidFill>
            <a:srgbClr val="FFD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51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4E"/>
                </a:solidFill>
                <a:latin typeface="Segoe UI"/>
              </a:rPr>
              <a:t>🎙️  Voice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9008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0C9D0"/>
                </a:solidFill>
                <a:latin typeface="Segoe UI"/>
              </a:rPr>
              <a:t>Rekam audio langsung dari browser via MediaRecorder API. Dikirim terkompresi Base64 WebM (&lt;250 KB).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606040"/>
            <a:ext cx="4114800" cy="1234440"/>
          </a:xfrm>
          <a:prstGeom prst="rect">
            <a:avLst/>
          </a:prstGeom>
          <a:solidFill>
            <a:srgbClr val="1F2C34"/>
          </a:solidFill>
          <a:ln w="1524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2606040"/>
            <a:ext cx="64008" cy="1234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651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  <a:latin typeface="Segoe UI"/>
              </a:rPr>
              <a:t>🖼️  Kompresi Foto 10MB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99008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0C9D0"/>
                </a:solidFill>
                <a:latin typeface="Segoe UI"/>
              </a:rPr>
              <a:t>Kirim foto besar tanpa hambatan. Kompres sisi klien via Canvas API memastikan ukuran &lt;150 KB.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977639"/>
            <a:ext cx="4114800" cy="1234440"/>
          </a:xfrm>
          <a:prstGeom prst="rect">
            <a:avLst/>
          </a:prstGeom>
          <a:solidFill>
            <a:srgbClr val="1F2C34"/>
          </a:solidFill>
          <a:ln w="1524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977639"/>
            <a:ext cx="64008" cy="123444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02335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84"/>
                </a:solidFill>
                <a:latin typeface="Segoe UI"/>
              </a:rPr>
              <a:t>👁️  Presence &amp; Typing Indicator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36168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0C9D0"/>
                </a:solidFill>
                <a:latin typeface="Segoe UI"/>
              </a:rPr>
              <a:t>Pantau siapa saja yang online di grup secara real-time, plus indikator 'sedang mengetik...' yang muncul dinamis.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977639"/>
            <a:ext cx="4114800" cy="1234440"/>
          </a:xfrm>
          <a:prstGeom prst="rect">
            <a:avLst/>
          </a:prstGeom>
          <a:solidFill>
            <a:srgbClr val="1F2C34"/>
          </a:solidFill>
          <a:ln w="1524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3977639"/>
            <a:ext cx="64008" cy="1234440"/>
          </a:xfrm>
          <a:prstGeom prst="rect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02335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3BDEB"/>
                </a:solidFill>
                <a:latin typeface="Segoe UI"/>
              </a:rPr>
              <a:t>🌙  Desain Glassmorphism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361688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0C9D0"/>
                </a:solidFill>
                <a:latin typeface="Segoe UI"/>
              </a:rPr>
              <a:t>Dark mode premium bergaya WhatsApp Web dengan efek blur kaca, gradien mulus, dan animasi transisi elegan.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🏗️  Arsitektur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84"/>
                </a:solidFill>
                <a:latin typeface="Segoe UI"/>
              </a:rPr>
              <a:t>Cara kerja komunikasi antar komponen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286000" cy="2560320"/>
          </a:xfrm>
          <a:prstGeom prst="rect">
            <a:avLst/>
          </a:prstGeom>
          <a:solidFill>
            <a:srgbClr val="123A2F"/>
          </a:solidFill>
          <a:ln w="190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A884"/>
                </a:solidFill>
                <a:latin typeface="Segoe UI"/>
              </a:rPr>
              <a:t>🖥️  Browser A
(Pengirim)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C9D0"/>
                </a:solidFill>
                <a:latin typeface="Segoe UI"/>
              </a:rPr>
              <a:t>React App
+ MQTT Client
+ WebRTC Peer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560320" cy="2560320"/>
          </a:xfrm>
          <a:prstGeom prst="rect">
            <a:avLst/>
          </a:prstGeom>
          <a:solidFill>
            <a:srgbClr val="1A1A4E"/>
          </a:solidFill>
          <a:ln w="2540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3BDEB"/>
                </a:solidFill>
                <a:latin typeface="Segoe UI"/>
              </a:rPr>
              <a:t>☁️  HiveMQ Broker
(Cloud)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202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C9D0"/>
                </a:solidFill>
                <a:latin typeface="Segoe UI"/>
              </a:rPr>
              <a:t>wss://broker.hivemq.com
:8884/mqtt
Topik MQTT:
• mqtt_chat/messages/{room}
• mqtt_chat/presence
• mqtt_chat/typing
• mqtt_chat/calls/{room}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280160"/>
            <a:ext cx="2286000" cy="2560320"/>
          </a:xfrm>
          <a:prstGeom prst="rect">
            <a:avLst/>
          </a:prstGeom>
          <a:solidFill>
            <a:srgbClr val="123A2F"/>
          </a:solidFill>
          <a:ln w="190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A884"/>
                </a:solidFill>
                <a:latin typeface="Segoe UI"/>
              </a:rPr>
              <a:t>🖥️  Browser B
(Penerima)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0C9D0"/>
                </a:solidFill>
                <a:latin typeface="Segoe UI"/>
              </a:rPr>
              <a:t>React App
+ MQTT Client
+ WebRTC Peer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3774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A884"/>
                </a:solidFill>
                <a:latin typeface="Segoe UI"/>
              </a:rPr>
              <a:t>--- MQTT MSG --&gt;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3774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A884"/>
                </a:solidFill>
                <a:latin typeface="Segoe UI"/>
              </a:rPr>
              <a:t>&lt;-- MQTT MSG ---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160520"/>
            <a:ext cx="5486400" cy="502920"/>
          </a:xfrm>
          <a:prstGeom prst="rect">
            <a:avLst/>
          </a:prstGeom>
          <a:solidFill>
            <a:srgbClr val="2D1A00"/>
          </a:solidFill>
          <a:ln w="12700">
            <a:solidFill>
              <a:srgbClr val="FFD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1879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D74E"/>
                </a:solidFill>
                <a:latin typeface="Segoe UI"/>
              </a:rPr>
              <a:t>🎥  WebRTC P2P  --  Audio / Video Stream Langsung  --  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0C9D0"/>
                </a:solidFill>
                <a:latin typeface="Segoe UI"/>
              </a:rPr>
              <a:t>💡 Signaling WebRTC (SDP &amp; ICE) lewat MQTT, lalu stream langsung P2P via STUN Google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🛠️  Proses Pengembangan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84"/>
                </a:solidFill>
                <a:latin typeface="Segoe UI"/>
              </a:rPr>
              <a:t>Step-by-Step dari Nol Sampai Jadi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1280160"/>
            <a:ext cx="502920" cy="50292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52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41A"/>
                </a:solidFill>
                <a:latin typeface="Segoe U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" y="1783080"/>
            <a:ext cx="64008" cy="3017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1234440"/>
            <a:ext cx="7909560" cy="685800"/>
          </a:xfrm>
          <a:prstGeom prst="rect">
            <a:avLst/>
          </a:prstGeom>
          <a:solidFill>
            <a:srgbClr val="1F2C34"/>
          </a:solidFill>
          <a:ln w="1016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252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84"/>
                </a:solidFill>
                <a:latin typeface="Segoe UI"/>
              </a:rPr>
              <a:t>Inisialisasi Proyek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544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npm create vite@latest CHATTING -- --template react &amp;&amp; npm install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2103120"/>
            <a:ext cx="502920" cy="502920"/>
          </a:xfrm>
          <a:prstGeom prst="ellipse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0756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41A"/>
                </a:solidFill>
                <a:latin typeface="Segoe U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2606040"/>
            <a:ext cx="64008" cy="301752"/>
          </a:xfrm>
          <a:prstGeom prst="rect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2057400"/>
            <a:ext cx="7909560" cy="685800"/>
          </a:xfrm>
          <a:prstGeom prst="rect">
            <a:avLst/>
          </a:prstGeom>
          <a:solidFill>
            <a:srgbClr val="1F2C34"/>
          </a:solidFill>
          <a:ln w="1016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075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3BDEB"/>
                </a:solidFill>
                <a:latin typeface="Segoe UI"/>
              </a:rPr>
              <a:t>Setup Tailwind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37744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npm install -D tailwindcss postcss autoprefixer  |  Konfigurasi palet warna WhatsApp gelap</a:t>
            </a:r>
          </a:p>
        </p:txBody>
      </p:sp>
      <p:sp>
        <p:nvSpPr>
          <p:cNvPr id="18" name="Oval 17"/>
          <p:cNvSpPr/>
          <p:nvPr/>
        </p:nvSpPr>
        <p:spPr>
          <a:xfrm>
            <a:off x="274320" y="2926080"/>
            <a:ext cx="502920" cy="502920"/>
          </a:xfrm>
          <a:prstGeom prst="ellipse">
            <a:avLst/>
          </a:prstGeom>
          <a:solidFill>
            <a:srgbClr val="FFD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898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41A"/>
                </a:solidFill>
                <a:latin typeface="Segoe U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" y="3429000"/>
            <a:ext cx="64008" cy="301752"/>
          </a:xfrm>
          <a:prstGeom prst="rect">
            <a:avLst/>
          </a:prstGeom>
          <a:solidFill>
            <a:srgbClr val="FFD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2880360"/>
            <a:ext cx="7909560" cy="685800"/>
          </a:xfrm>
          <a:prstGeom prst="rect">
            <a:avLst/>
          </a:prstGeom>
          <a:solidFill>
            <a:srgbClr val="1F2C34"/>
          </a:solidFill>
          <a:ln w="10160">
            <a:solidFill>
              <a:srgbClr val="FFD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898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4E"/>
                </a:solidFill>
                <a:latin typeface="Segoe UI"/>
              </a:rPr>
              <a:t>Install Dependensi Utama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004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npm install mqtt lucide-react canvas-confetti  +  aedes websocket-stream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" y="374904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7216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41A"/>
                </a:solidFill>
                <a:latin typeface="Segoe U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" y="4251960"/>
            <a:ext cx="64008" cy="3017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3703320"/>
            <a:ext cx="7909560" cy="685800"/>
          </a:xfrm>
          <a:prstGeom prst="rect">
            <a:avLst/>
          </a:prstGeom>
          <a:solidFill>
            <a:srgbClr val="1F2C34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721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Segoe UI"/>
              </a:rPr>
              <a:t>Bangun App.jsx (MQTT &amp; WebRTC)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0233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Koneksi HiveMQ WSS, presence/typing listener, alur WebRTC P2P dengan SDP &amp; ICE handshake</a:t>
            </a:r>
          </a:p>
        </p:txBody>
      </p:sp>
      <p:sp>
        <p:nvSpPr>
          <p:cNvPr id="30" name="Oval 29"/>
          <p:cNvSpPr/>
          <p:nvPr/>
        </p:nvSpPr>
        <p:spPr>
          <a:xfrm>
            <a:off x="274320" y="4572000"/>
            <a:ext cx="502920" cy="502920"/>
          </a:xfrm>
          <a:prstGeom prst="ellipse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5445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41A"/>
                </a:solidFill>
                <a:latin typeface="Segoe U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" y="5074920"/>
            <a:ext cx="64008" cy="3017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" y="4526280"/>
            <a:ext cx="7909560" cy="685800"/>
          </a:xfrm>
          <a:prstGeom prst="rect">
            <a:avLst/>
          </a:prstGeom>
          <a:solidFill>
            <a:srgbClr val="1F2C34"/>
          </a:solidFill>
          <a:ln w="1016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544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84"/>
                </a:solidFill>
                <a:latin typeface="Segoe UI"/>
              </a:rPr>
              <a:t>Versi Standalone 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8463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Port seluruh logika ke mqtt-chat-easy.html  |  Semua library via CDN, zero install</a:t>
            </a:r>
          </a:p>
        </p:txBody>
      </p:sp>
      <p:sp>
        <p:nvSpPr>
          <p:cNvPr id="36" name="Oval 35"/>
          <p:cNvSpPr/>
          <p:nvPr/>
        </p:nvSpPr>
        <p:spPr>
          <a:xfrm>
            <a:off x="274320" y="5394959"/>
            <a:ext cx="502920" cy="502920"/>
          </a:xfrm>
          <a:prstGeom prst="ellipse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536752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B141A"/>
                </a:solidFill>
                <a:latin typeface="Segoe UI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5349240"/>
            <a:ext cx="7909560" cy="685800"/>
          </a:xfrm>
          <a:prstGeom prst="rect">
            <a:avLst/>
          </a:prstGeom>
          <a:solidFill>
            <a:srgbClr val="1F2C34"/>
          </a:solidFill>
          <a:ln w="1016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36752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3BDEB"/>
                </a:solidFill>
                <a:latin typeface="Segoe UI"/>
              </a:rPr>
              <a:t>Git Init &amp; Commit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669279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git init  |  git add .  |  git commit -m 'Initial commit: WhatsApp Chat over MQTT'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🚀  Cara Menjalankan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84"/>
                </a:solidFill>
                <a:latin typeface="Segoe UI"/>
              </a:rPr>
              <a:t>Dua opsi fleksibel — pilih sesuai kebutuhan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4023360" cy="3474720"/>
          </a:xfrm>
          <a:prstGeom prst="rect">
            <a:avLst/>
          </a:prstGeom>
          <a:solidFill>
            <a:srgbClr val="1F2C34"/>
          </a:solidFill>
          <a:ln w="190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023360" cy="54864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A884"/>
                </a:solidFill>
                <a:latin typeface="Segoe UI"/>
              </a:rPr>
              <a:t>⚙️  Opsi A — 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9D0"/>
                </a:solidFill>
                <a:latin typeface="Segoe UI"/>
              </a:rPr>
              <a:t>Rekomendasi untuk pengembangan &amp; debug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03120"/>
            <a:ext cx="3749039" cy="1371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05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884"/>
                </a:solidFill>
                <a:latin typeface="Consolas"/>
              </a:rPr>
              <a:t>$ npm install
$ npm run dev
-&gt; Buka: http://localhost:5173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661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9D0"/>
                </a:solidFill>
                <a:latin typeface="Segoe UI"/>
              </a:rPr>
              <a:t>✅  Hot reload aktif
✅  DevTools lengkap
✅  Source maps tersedia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4023360" cy="3474720"/>
          </a:xfrm>
          <a:prstGeom prst="rect">
            <a:avLst/>
          </a:prstGeom>
          <a:solidFill>
            <a:srgbClr val="1F2C34"/>
          </a:solidFill>
          <a:ln w="1905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234440"/>
            <a:ext cx="4023360" cy="54864"/>
          </a:xfrm>
          <a:prstGeom prst="rect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2984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3BDEB"/>
                </a:solidFill>
                <a:latin typeface="Segoe UI"/>
              </a:rPr>
              <a:t>🌐  Opsi B — Standalone 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737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9D0"/>
                </a:solidFill>
                <a:latin typeface="Segoe UI"/>
              </a:rPr>
              <a:t>Zero install — langsung buka di browser!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2402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3BDEB"/>
                </a:solidFill>
                <a:latin typeface="Segoe UI"/>
              </a:rPr>
              <a:t>Cukup klik dua kali:
mqtt-chat-easy.html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5661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C9D0"/>
                </a:solidFill>
                <a:latin typeface="Segoe UI"/>
              </a:rPr>
              <a:t>✅  Tanpa Node.js
✅  Tanpa npm install
✅  Jalan di Chrome/Edge/Firefox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892040"/>
            <a:ext cx="8595360" cy="1051560"/>
          </a:xfrm>
          <a:prstGeom prst="rect">
            <a:avLst/>
          </a:prstGeom>
          <a:solidFill>
            <a:srgbClr val="003D33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194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84"/>
                </a:solidFill>
                <a:latin typeface="Segoe UI"/>
              </a:rPr>
              <a:t>📡  Cara Connect Antar Laptop: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3036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0C9D0"/>
                </a:solidFill>
                <a:latin typeface="Segoe UI"/>
              </a:rPr>
              <a:t>Pastikan internet aktif  -&gt;  Buka app di masing-masing laptop  -&gt;  Klik Settings  -&gt;  Isi username unik  -&gt;  Pilih grup sama  -&gt;  Mulai chat, foto, VN, video call!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🖥️  Tampilan UI — Demo Aplikasi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84"/>
                </a:solidFill>
                <a:latin typeface="Segoe UI"/>
              </a:rPr>
              <a:t>Desain Glassmorphism Premium Dark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377440" cy="4663440"/>
          </a:xfrm>
          <a:prstGeom prst="rect">
            <a:avLst/>
          </a:prstGeom>
          <a:solidFill>
            <a:srgbClr val="111B21"/>
          </a:solidFill>
          <a:ln w="12700">
            <a:solidFill>
              <a:srgbClr val="005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377440" cy="502920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527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MQTT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25272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55648"/>
            <a:ext cx="2377440" cy="594360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# General Lounge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2996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A884"/>
                </a:solidFill>
                <a:latin typeface="Segoe UI"/>
              </a:rPr>
              <a:t>🟢 5 online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95728"/>
            <a:ext cx="2377440" cy="594360"/>
          </a:xfrm>
          <a:prstGeom prst="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9D0"/>
                </a:solidFill>
                <a:latin typeface="Segoe UI"/>
              </a:rPr>
              <a:t># Tech Talk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2377440" cy="594360"/>
          </a:xfrm>
          <a:prstGeom prst="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632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9D0"/>
                </a:solidFill>
                <a:latin typeface="Segoe UI"/>
              </a:rPr>
              <a:t># Random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75887"/>
            <a:ext cx="2377440" cy="594360"/>
          </a:xfrm>
          <a:prstGeom prst="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9D0"/>
                </a:solidFill>
                <a:latin typeface="Segoe UI"/>
              </a:rPr>
              <a:t># Study Room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15968"/>
            <a:ext cx="2377440" cy="594360"/>
          </a:xfrm>
          <a:prstGeom prst="rect">
            <a:avLst/>
          </a:prstGeom>
          <a:solidFill>
            <a:srgbClr val="111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C9D0"/>
                </a:solidFill>
                <a:latin typeface="Segoe UI"/>
              </a:rPr>
              <a:t># Gaming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1234440"/>
            <a:ext cx="6172200" cy="4663440"/>
          </a:xfrm>
          <a:prstGeom prst="rect">
            <a:avLst/>
          </a:prstGeom>
          <a:solidFill>
            <a:srgbClr val="0B141A"/>
          </a:solidFill>
          <a:ln w="12700">
            <a:solidFill>
              <a:srgbClr val="005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97480" y="1234440"/>
            <a:ext cx="6172200" cy="50292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1252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# General Lounge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25272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A884"/>
                </a:solidFill>
                <a:latin typeface="Segoe UI"/>
              </a:rPr>
              <a:t>📞  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1828800"/>
            <a:ext cx="3017520" cy="50292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1837943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A884"/>
                </a:solidFill>
                <a:latin typeface="Segoe UI"/>
              </a:rPr>
              <a:t>Rian: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19933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Halo semuanya! 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1488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0C9D0"/>
                </a:solidFill>
                <a:latin typeface="Segoe UI"/>
              </a:rPr>
              <a:t>10:30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468880"/>
            <a:ext cx="3017520" cy="502920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5054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Halo Rian! Gimana kabarnya?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27889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00A884"/>
                </a:solidFill>
                <a:latin typeface="Segoe UI"/>
              </a:rPr>
              <a:t>10:31 ✓✓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3108960"/>
            <a:ext cx="3017520" cy="50292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3118103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A884"/>
                </a:solidFill>
                <a:latin typeface="Segoe UI"/>
              </a:rPr>
              <a:t>Siti: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2735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📷  [Foto Pantai.jpg]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290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0C9D0"/>
                </a:solidFill>
                <a:latin typeface="Segoe UI"/>
              </a:rPr>
              <a:t>10:32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3749039"/>
            <a:ext cx="3017520" cy="502920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378561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Wah keren banget fotonya! 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069079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00A884"/>
                </a:solidFill>
                <a:latin typeface="Segoe UI"/>
              </a:rPr>
              <a:t>10:33 ✓✓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4389120"/>
            <a:ext cx="3017520" cy="50292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439826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00A884"/>
                </a:solidFill>
                <a:latin typeface="Segoe UI"/>
              </a:rPr>
              <a:t>Rian: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5537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🎙️  Voice Note (0:12)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70915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0C9D0"/>
                </a:solidFill>
                <a:latin typeface="Segoe UI"/>
              </a:rPr>
              <a:t>10:34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5212080"/>
            <a:ext cx="6172200" cy="256032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8920" y="5230368"/>
            <a:ext cx="4572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A884"/>
                </a:solidFill>
                <a:latin typeface="Segoe UI"/>
              </a:rPr>
              <a:t>✍️  Rian sedang mengetik...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97480" y="5486400"/>
            <a:ext cx="6172200" cy="411480"/>
          </a:xfrm>
          <a:prstGeom prst="rect">
            <a:avLst/>
          </a:prstGeom>
          <a:solidFill>
            <a:srgbClr val="1F2C34"/>
          </a:solidFill>
          <a:ln w="6350">
            <a:solidFill>
              <a:srgbClr val="005C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88920" y="5513832"/>
            <a:ext cx="5989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📎  🖼️    Ketik pesan...                                    🎙️  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📦  Teknologi &amp;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84"/>
                </a:solidFill>
                <a:latin typeface="Segoe UI"/>
              </a:rPr>
              <a:t>Stack lengkap yang digunakan dalam proyek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61872"/>
            <a:ext cx="2697480" cy="5029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84"/>
                </a:solidFill>
                <a:latin typeface="Segoe UI"/>
              </a:rPr>
              <a:t>⚛️  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64207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Framework UI berbasis komponen dengan hooks (useState, useEffect, useRef) untuk manajemen state real-time.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26187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261872"/>
            <a:ext cx="2697480" cy="50292"/>
          </a:xfrm>
          <a:prstGeom prst="rect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35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3BDEB"/>
                </a:solidFill>
                <a:latin typeface="Segoe UI"/>
              </a:rPr>
              <a:t>⚡  Vite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664207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Build tool &amp; dev server ultra-cepat dengan HMR dan bundling ES Module native.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26187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FFD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261872"/>
            <a:ext cx="2697480" cy="50292"/>
          </a:xfrm>
          <a:prstGeom prst="rect">
            <a:avLst/>
          </a:prstGeom>
          <a:solidFill>
            <a:srgbClr val="FFD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35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4E"/>
                </a:solidFill>
                <a:latin typeface="Segoe UI"/>
              </a:rPr>
              <a:t>🎨  Tailwind CSS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664207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Utility-first CSS. Konfigurasi warna custom WhatsApp gelap (chat-bg, chat-accent, dll).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72491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724912"/>
            <a:ext cx="269748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798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Segoe UI"/>
              </a:rPr>
              <a:t>📡  MQTT.js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12724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Client MQTT JavaScript. Koneksi HiveMQ via WSS. Publish/subscribe pesan, presence, dan sinyal WebRTC.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272491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4680" y="2724912"/>
            <a:ext cx="2697480" cy="5029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2798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84"/>
                </a:solidFill>
                <a:latin typeface="Segoe UI"/>
              </a:rPr>
              <a:t>🎥  WebRTC (Native)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12724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API browser untuk P2P audio/video. RTCPeerConnection + STUN server Google.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72491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2724912"/>
            <a:ext cx="2697480" cy="50292"/>
          </a:xfrm>
          <a:prstGeom prst="rect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798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3BDEB"/>
                </a:solidFill>
                <a:latin typeface="Segoe UI"/>
              </a:rPr>
              <a:t>🖼️  Canvas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312724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Kompresi gambar sisi klien. Resize &amp; re-render ke canvas sebelum kirim agar ukuran &lt; 150 KB.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18795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FFD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187952"/>
            <a:ext cx="2697480" cy="50292"/>
          </a:xfrm>
          <a:prstGeom prst="rect">
            <a:avLst/>
          </a:prstGeom>
          <a:solidFill>
            <a:srgbClr val="FFD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611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4E"/>
                </a:solidFill>
                <a:latin typeface="Segoe UI"/>
              </a:rPr>
              <a:t>🎙️  MediaRecorder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59028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Rekam audio dari mikrofon secara native. Output Blob WebM dikonversi ke Base64.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418795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54680" y="4187952"/>
            <a:ext cx="269748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42611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  <a:latin typeface="Segoe UI"/>
              </a:rPr>
              <a:t>🎇  Canvas Confetti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59028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Efek kembang api diaktifkan dengan perintah /confetti di chat.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4187952"/>
            <a:ext cx="2697480" cy="1353312"/>
          </a:xfrm>
          <a:prstGeom prst="rect">
            <a:avLst/>
          </a:prstGeom>
          <a:solidFill>
            <a:srgbClr val="1F2C3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4187952"/>
            <a:ext cx="2697480" cy="5029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42611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A884"/>
                </a:solidFill>
                <a:latin typeface="Segoe UI"/>
              </a:rPr>
              <a:t>🔣  Lucide React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590288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0C9D0"/>
                </a:solidFill>
                <a:latin typeface="Segoe UI"/>
              </a:rPr>
              <a:t>Koleksi 1000+ ikon SVG React. Dipakai untuk ikon telepon, kamera, mic, send, dll.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1F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⚡  Tantangan &amp; 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A884"/>
                </a:solidFill>
                <a:latin typeface="Segoe UI"/>
              </a:rPr>
              <a:t>Masalah teknis yang dihadapi &amp; cara mengatasinya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61872"/>
            <a:ext cx="8595360" cy="1115568"/>
          </a:xfrm>
          <a:prstGeom prst="rect">
            <a:avLst/>
          </a:prstGeom>
          <a:solidFill>
            <a:srgbClr val="1F2C34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61872"/>
            <a:ext cx="73152" cy="11155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  <a:latin typeface="Segoe UI"/>
              </a:rPr>
              <a:t>❌  Limit Payload Broker MQTT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Masalah: MQTT broker memiliki batas ukuran payload sekitar 256 KB. Gambar 10 MB tidak bisa dikirim langsung.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8366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✅ Solusi: Kompresi Canvas API sisi klien: gambar di-resize &amp; kualitas dikurangi hingga &lt;150 KB sebelum encode Base64.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96312"/>
            <a:ext cx="8595360" cy="1115568"/>
          </a:xfrm>
          <a:prstGeom prst="rect">
            <a:avLst/>
          </a:prstGeom>
          <a:solidFill>
            <a:srgbClr val="1F2C34"/>
          </a:solidFill>
          <a:ln w="12700">
            <a:solidFill>
              <a:srgbClr val="53B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496312"/>
            <a:ext cx="73152" cy="1115568"/>
          </a:xfrm>
          <a:prstGeom prst="rect">
            <a:avLst/>
          </a:prstGeom>
          <a:solidFill>
            <a:srgbClr val="53B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328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3BDEB"/>
                </a:solidFill>
                <a:latin typeface="Segoe UI"/>
              </a:rPr>
              <a:t>❌  Signaling WebRTC Tanpa Server Dedicated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072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Masalah: WebRTC butuh pertukaran SDP dan ICE candidates antar peer sebelum koneksi P2P bisa dibuka.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1810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✅ Solusi: MQTT dimanfaatkan sebagai signaling channel — topik unik per user untuk routing offer/answer/ICE candidates.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30752"/>
            <a:ext cx="8595360" cy="1115568"/>
          </a:xfrm>
          <a:prstGeom prst="rect">
            <a:avLst/>
          </a:prstGeom>
          <a:solidFill>
            <a:srgbClr val="1F2C34"/>
          </a:solidFill>
          <a:ln w="12700">
            <a:solidFill>
              <a:srgbClr val="FFD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30752"/>
            <a:ext cx="73152" cy="1115568"/>
          </a:xfrm>
          <a:prstGeom prst="rect">
            <a:avLst/>
          </a:prstGeom>
          <a:solidFill>
            <a:srgbClr val="FFD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673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74E"/>
                </a:solidFill>
                <a:latin typeface="Segoe UI"/>
              </a:rPr>
              <a:t>❌  Voice Note Format &amp; Kompatibilitas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Masalah: Format audio berbeda antar browser (Chrome=WebM/Opus, Firefox=OGG). Pengiriman biner langsung terlalu besar.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5254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✅ Solusi: MediaRecorder dengan MIME fallback + encode output Blob ke Base64 string sebelum publish ke MQTT topic.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965192"/>
            <a:ext cx="8595360" cy="1115568"/>
          </a:xfrm>
          <a:prstGeom prst="rect">
            <a:avLst/>
          </a:prstGeom>
          <a:solidFill>
            <a:srgbClr val="1F2C34"/>
          </a:solidFill>
          <a:ln w="1270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965192"/>
            <a:ext cx="73152" cy="111556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0176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884"/>
                </a:solidFill>
                <a:latin typeface="Segoe UI"/>
              </a:rPr>
              <a:t>❌  Portabilitas: Butuh Node.js untuk 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76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0C9D0"/>
                </a:solidFill>
                <a:latin typeface="Segoe UI"/>
              </a:rPr>
              <a:t>Masalah: Tidak semua komputer memiliki Node.js terinstal — menyulitkan demo di laptop orang lain.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58698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✅ Solusi: Versi standalone mqtt-chat-easy.html yang memuat semua library via CDN — zero install, buka langsung di browser.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731520"/>
            <a:ext cx="8229600" cy="5303520"/>
          </a:xfrm>
          <a:prstGeom prst="rect">
            <a:avLst/>
          </a:prstGeom>
          <a:solidFill>
            <a:srgbClr val="1F2C34"/>
          </a:solidFill>
          <a:ln w="19050">
            <a:solidFill>
              <a:srgbClr val="00A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8229600" cy="64008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0058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FFFFFF"/>
                </a:solidFill>
                <a:latin typeface="Segoe UI"/>
              </a:rPr>
              <a:t>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Terima Kasih!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A884"/>
                </a:solidFill>
                <a:latin typeface="Segoe UI"/>
              </a:rPr>
              <a:t>MQTT WhatsApp Clone — Built From Scratch with ❤️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3375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0C9D0"/>
                </a:solidFill>
                <a:latin typeface="Segoe UI"/>
              </a:rPr>
              <a:t>✅  Real-time chat via MQTT (WSS) — latensi sub-detik
✅  Voice &amp; Video Call P2P via WebRTC
✅  Voice Notes, Kompresi Foto 10MB, Typing &amp; Presence Indicator
✅  Dua versi: React/Vite + Standalone HTML (zero install)
✅  Desain Glassmorphism Premium Dark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17920"/>
            <a:ext cx="9144000" cy="73152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